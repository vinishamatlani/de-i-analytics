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E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DE685B"/>
                </a:solidFill>
                <a:latin typeface="Aptos"/>
              </a:rPr>
              <a:t>EXECUTIVE ANALYTICS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6766560" cy="1371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3000" b="1" i="0">
                <a:solidFill>
                  <a:srgbClr val="172554"/>
                </a:solidFill>
                <a:latin typeface="Aptos"/>
              </a:rPr>
              <a:t>Global Inclusion
&amp; Belonging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24912"/>
            <a:ext cx="5852160" cy="6400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500" b="0" i="0">
                <a:solidFill>
                  <a:srgbClr val="4C5B70"/>
                </a:solidFill>
                <a:latin typeface="Aptos"/>
              </a:rPr>
              <a:t>A measurement system for seeing where inclusion is strong,
where signals are uneven, and how to learn over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52360" y="685800"/>
            <a:ext cx="4069080" cy="512064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0515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E2A949"/>
                </a:solidFill>
                <a:latin typeface="Aptos"/>
              </a:rPr>
              <a:t>THE BUSINESS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0688" y="1572768"/>
            <a:ext cx="3154680" cy="10972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Aptos"/>
              </a:rPr>
              <a:t>How can leaders turn
inclusion data into
measured action?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971800"/>
            <a:ext cx="3063240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00" b="0" i="0">
                <a:solidFill>
                  <a:srgbClr val="D7E0EF"/>
                </a:solidFill>
                <a:latin typeface="Aptos"/>
              </a:rPr>
              <a:t>A five-dimension framework connects employee experience, segment signals, and a repeatable measurement loop.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4114800"/>
            <a:ext cx="96012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900" b="1" i="0">
                <a:solidFill>
                  <a:srgbClr val="239192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526280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D7E0EF"/>
                </a:solidFill>
                <a:latin typeface="Aptos"/>
              </a:rPr>
              <a:t>dimensions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2" y="4114800"/>
            <a:ext cx="96012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900" b="1" i="0">
                <a:solidFill>
                  <a:srgbClr val="239192"/>
                </a:solidFill>
                <a:latin typeface="Aptos"/>
              </a:rPr>
              <a:t>2,841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7112" y="4526280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D7E0EF"/>
                </a:solidFill>
                <a:latin typeface="Aptos"/>
              </a:rPr>
              <a:t>responses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6104" y="4114800"/>
            <a:ext cx="96012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900" b="1" i="0">
                <a:solidFill>
                  <a:srgbClr val="239192"/>
                </a:solidFill>
                <a:latin typeface="Aptos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76104" y="4526280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D7E0EF"/>
                </a:solidFill>
                <a:latin typeface="Aptos"/>
              </a:rPr>
              <a:t>countries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080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0" i="0">
                <a:solidFill>
                  <a:srgbClr val="7D8B9E"/>
                </a:solidFill>
                <a:latin typeface="Aptos"/>
              </a:rPr>
              <a:t>Synthetic workforce survey | Voice 2026 | Fieldwork: 4-22 May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0807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800" b="1" i="0">
                <a:solidFill>
                  <a:srgbClr val="7D8B9E"/>
                </a:solidFill>
                <a:latin typeface="Aptos"/>
              </a:rPr>
              <a:t>01  /  EXECUTIVE BRIEF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239192"/>
                </a:solidFill>
                <a:latin typeface="Aptos"/>
              </a:rPr>
              <a:t>01 /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914400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400" b="1" i="0">
                <a:solidFill>
                  <a:srgbClr val="172554"/>
                </a:solidFill>
                <a:latin typeface="Aptos"/>
              </a:rPr>
              <a:t>Inclusion is strongest in belonging; fairness is the pressure point.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97864"/>
            <a:ext cx="91440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50" b="0" i="0">
                <a:solidFill>
                  <a:srgbClr val="4C5B70"/>
                </a:solidFill>
                <a:latin typeface="Aptos"/>
              </a:rPr>
              <a:t>The overall index is a composite view across five employee experience dimensions.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38404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800" b="1" i="0">
                <a:solidFill>
                  <a:srgbClr val="7D8B9E"/>
                </a:solidFill>
                <a:latin typeface="Aptos"/>
              </a:rPr>
              <a:t>02  /  EXECUTIVE BRIEF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880360" cy="4251960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240280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E2A949"/>
                </a:solidFill>
                <a:latin typeface="Aptos"/>
              </a:rPr>
              <a:t>OVERALL INCLUSION 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606040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Aptos"/>
              </a:rPr>
              <a:t>68.3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3172968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00" b="1" i="0">
                <a:solidFill>
                  <a:srgbClr val="D7E0EF"/>
                </a:solidFill>
                <a:latin typeface="Aptos"/>
              </a:rPr>
              <a:t>/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160520"/>
            <a:ext cx="2148840" cy="9326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0" i="0">
                <a:solidFill>
                  <a:srgbClr val="D7E0EF"/>
                </a:solidFill>
                <a:latin typeface="Aptos"/>
              </a:rPr>
              <a:t>Mean of five dimensions, transformed from a 1-5 Likert scale to 0-100.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526694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00" b="1" i="0">
                <a:solidFill>
                  <a:srgbClr val="239192"/>
                </a:solidFill>
                <a:latin typeface="Aptos"/>
              </a:rPr>
              <a:t>LOWEST DIMENSION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550468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Fairness &amp; Opportunity  60.8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208" y="1874519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7D8B9E"/>
                </a:solidFill>
                <a:latin typeface="Aptos"/>
              </a:rPr>
              <a:t>DIMENSION SCORE / 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0208" y="2331720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192230"/>
                </a:solidFill>
                <a:latin typeface="Aptos"/>
              </a:rPr>
              <a:t>Belonging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2359151"/>
            <a:ext cx="4160520" cy="173736"/>
          </a:xfrm>
          <a:prstGeom prst="roundRect">
            <a:avLst/>
          </a:prstGeom>
          <a:solidFill>
            <a:srgbClr val="DA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44768" y="2359151"/>
            <a:ext cx="3905688" cy="173736"/>
          </a:xfrm>
          <a:prstGeom prst="roundRect">
            <a:avLst/>
          </a:prstGeom>
          <a:solidFill>
            <a:srgbClr val="23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33888" y="22951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1300" b="1" i="0">
                <a:solidFill>
                  <a:srgbClr val="172554"/>
                </a:solidFill>
                <a:latin typeface="Aptos"/>
              </a:rPr>
              <a:t>75.2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208" y="2587752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7D8B9E"/>
                </a:solidFill>
                <a:latin typeface="Aptos"/>
              </a:rPr>
              <a:t>73.0% favourable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0208" y="2999232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192230"/>
                </a:solidFill>
                <a:latin typeface="Aptos"/>
              </a:rPr>
              <a:t>Employee Voice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3026663"/>
            <a:ext cx="4160520" cy="173736"/>
          </a:xfrm>
          <a:prstGeom prst="roundRect">
            <a:avLst/>
          </a:prstGeom>
          <a:solidFill>
            <a:srgbClr val="DA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44768" y="3026663"/>
            <a:ext cx="3448030" cy="173736"/>
          </a:xfrm>
          <a:prstGeom prst="roundRect">
            <a:avLst/>
          </a:prstGeom>
          <a:solidFill>
            <a:srgbClr val="23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33888" y="296265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1300" b="1" i="0">
                <a:solidFill>
                  <a:srgbClr val="172554"/>
                </a:solidFill>
                <a:latin typeface="Aptos"/>
              </a:rPr>
              <a:t>66.0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50208" y="3255263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7D8B9E"/>
                </a:solidFill>
                <a:latin typeface="Aptos"/>
              </a:rPr>
              <a:t>58.7% favourable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0208" y="366674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192230"/>
                </a:solidFill>
                <a:latin typeface="Aptos"/>
              </a:rPr>
              <a:t>Psychological Safety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3694176"/>
            <a:ext cx="4160520" cy="173736"/>
          </a:xfrm>
          <a:prstGeom prst="roundRect">
            <a:avLst/>
          </a:prstGeom>
          <a:solidFill>
            <a:srgbClr val="DA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44768" y="3694176"/>
            <a:ext cx="3344017" cy="173736"/>
          </a:xfrm>
          <a:prstGeom prst="roundRect">
            <a:avLst/>
          </a:prstGeom>
          <a:solidFill>
            <a:srgbClr val="E2A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33888" y="36301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1300" b="1" i="0">
                <a:solidFill>
                  <a:srgbClr val="172554"/>
                </a:solidFill>
                <a:latin typeface="Aptos"/>
              </a:rPr>
              <a:t>64.8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50208" y="3922776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7D8B9E"/>
                </a:solidFill>
                <a:latin typeface="Aptos"/>
              </a:rPr>
              <a:t>56.8% favourable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0208" y="4334256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192230"/>
                </a:solidFill>
                <a:latin typeface="Aptos"/>
              </a:rPr>
              <a:t>Fairness &amp; Opportunity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4361688"/>
            <a:ext cx="4160520" cy="173736"/>
          </a:xfrm>
          <a:prstGeom prst="roundRect">
            <a:avLst/>
          </a:prstGeom>
          <a:solidFill>
            <a:srgbClr val="DA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44768" y="4361688"/>
            <a:ext cx="3151593" cy="173736"/>
          </a:xfrm>
          <a:prstGeom prst="roundRect">
            <a:avLst/>
          </a:prstGeom>
          <a:solidFill>
            <a:srgbClr val="DE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33888" y="42976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1300" b="1" i="0">
                <a:solidFill>
                  <a:srgbClr val="172554"/>
                </a:solidFill>
                <a:latin typeface="Aptos"/>
              </a:rPr>
              <a:t>60.8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50208" y="4590288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7D8B9E"/>
                </a:solidFill>
                <a:latin typeface="Aptos"/>
              </a:rPr>
              <a:t>50.1% favourable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50208" y="5001768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192230"/>
                </a:solidFill>
                <a:latin typeface="Aptos"/>
              </a:rPr>
              <a:t>Inclusive Leadership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44768" y="5029200"/>
            <a:ext cx="4160520" cy="173736"/>
          </a:xfrm>
          <a:prstGeom prst="roundRect">
            <a:avLst/>
          </a:prstGeom>
          <a:solidFill>
            <a:srgbClr val="DA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44768" y="5029200"/>
            <a:ext cx="3890086" cy="173736"/>
          </a:xfrm>
          <a:prstGeom prst="roundRect">
            <a:avLst/>
          </a:prstGeom>
          <a:solidFill>
            <a:srgbClr val="23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33888" y="496519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1300" b="1" i="0">
                <a:solidFill>
                  <a:srgbClr val="172554"/>
                </a:solidFill>
                <a:latin typeface="Aptos"/>
              </a:rPr>
              <a:t>74.5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50208" y="5257800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7D8B9E"/>
                </a:solidFill>
                <a:latin typeface="Aptos"/>
              </a:rPr>
              <a:t>71.0% favourable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50208" y="5650992"/>
            <a:ext cx="6949440" cy="4389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69663" y="5779008"/>
            <a:ext cx="649224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4C5B70"/>
                </a:solidFill>
                <a:latin typeface="Aptos"/>
              </a:rPr>
              <a:t>Read the shape: high belonging does not remove the need to examine fairness and opportunity.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" y="6547104"/>
            <a:ext cx="9875520" cy="1371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750" b="0" i="0">
                <a:solidFill>
                  <a:srgbClr val="7D8B9E"/>
                </a:solidFill>
                <a:latin typeface="Aptos"/>
              </a:rPr>
              <a:t>Synthetic dataset | Portfolio demonstration | Segment reporting threshold: n &gt;= 5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85216" y="6446520"/>
            <a:ext cx="11027664" cy="0"/>
          </a:xfrm>
          <a:prstGeom prst="line">
            <a:avLst/>
          </a:prstGeom>
          <a:ln w="762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239192"/>
                </a:solidFill>
                <a:latin typeface="Aptos"/>
              </a:rPr>
              <a:t>02 / SEGMENT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914400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400" b="1" i="0">
                <a:solidFill>
                  <a:srgbClr val="172554"/>
                </a:solidFill>
                <a:latin typeface="Aptos"/>
              </a:rPr>
              <a:t>The largest gaps cluster around tenure, department, and identity.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97864"/>
            <a:ext cx="91440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50" b="0" i="0">
                <a:solidFill>
                  <a:srgbClr val="4C5B70"/>
                </a:solidFill>
                <a:latin typeface="Aptos"/>
              </a:rPr>
              <a:t>Each bar shows the segment Inclusion Index difference versus the company-wide 68.3 baseline.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38404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800" b="1" i="0">
                <a:solidFill>
                  <a:srgbClr val="7D8B9E"/>
                </a:solidFill>
                <a:latin typeface="Aptos"/>
              </a:rPr>
              <a:t>03  /  EXECUTIVE BRIEF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7452360" cy="4389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7D8B9E"/>
                </a:solidFill>
                <a:latin typeface="Aptos"/>
              </a:rPr>
              <a:t>OBSERVED GAP VS COMPANY 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9472" y="2313432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800" b="1" i="0">
                <a:solidFill>
                  <a:srgbClr val="7D8B9E"/>
                </a:solidFill>
                <a:latin typeface="Aptos"/>
              </a:rP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10912" y="2468880"/>
            <a:ext cx="0" cy="3273552"/>
          </a:xfrm>
          <a:prstGeom prst="line">
            <a:avLst/>
          </a:prstGeom>
          <a:ln w="1397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2688336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192230"/>
                </a:solidFill>
                <a:latin typeface="Aptos"/>
              </a:rPr>
              <a:t>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7D8B9E"/>
                </a:solidFill>
                <a:latin typeface="Aptos"/>
              </a:rPr>
              <a:t>Department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28569" y="2761488"/>
            <a:ext cx="2282342" cy="237744"/>
          </a:xfrm>
          <a:prstGeom prst="roundRect">
            <a:avLst/>
          </a:prstGeom>
          <a:solidFill>
            <a:srgbClr val="DE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2" y="2743200"/>
            <a:ext cx="530352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1100" b="1" i="0">
                <a:solidFill>
                  <a:srgbClr val="DE685B"/>
                </a:solidFill>
                <a:latin typeface="Aptos"/>
              </a:rPr>
              <a:t>-4.4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82696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192230"/>
                </a:solidFill>
                <a:latin typeface="Aptos"/>
              </a:rPr>
              <a:t>6-10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2044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7D8B9E"/>
                </a:solidFill>
                <a:latin typeface="Aptos"/>
              </a:rPr>
              <a:t>Tenure Band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99892" y="3355848"/>
            <a:ext cx="2211019" cy="237744"/>
          </a:xfrm>
          <a:prstGeom prst="roundRect">
            <a:avLst/>
          </a:prstGeom>
          <a:solidFill>
            <a:srgbClr val="DE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2" y="3337560"/>
            <a:ext cx="530352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1100" b="1" i="0">
                <a:solidFill>
                  <a:srgbClr val="DE685B"/>
                </a:solidFill>
                <a:latin typeface="Aptos"/>
              </a:rPr>
              <a:t>-3.0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77056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192230"/>
                </a:solidFill>
                <a:latin typeface="Aptos"/>
              </a:rPr>
              <a:t>Non-binary / self-described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1480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7D8B9E"/>
                </a:solidFill>
                <a:latin typeface="Aptos"/>
              </a:rPr>
              <a:t>Gender Group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9155" y="3950208"/>
            <a:ext cx="1711756" cy="237744"/>
          </a:xfrm>
          <a:prstGeom prst="roundRect">
            <a:avLst/>
          </a:prstGeom>
          <a:solidFill>
            <a:srgbClr val="DE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6552" y="3931920"/>
            <a:ext cx="530352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1100" b="1" i="0">
                <a:solidFill>
                  <a:srgbClr val="DE685B"/>
                </a:solidFill>
                <a:latin typeface="Aptos"/>
              </a:rPr>
              <a:t>-2.6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71416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192230"/>
                </a:solidFill>
                <a:latin typeface="Aptos"/>
              </a:rPr>
              <a:t>3-5 years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0916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7D8B9E"/>
                </a:solidFill>
                <a:latin typeface="Aptos"/>
              </a:rPr>
              <a:t>Tenure Band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9155" y="4544568"/>
            <a:ext cx="1711756" cy="237744"/>
          </a:xfrm>
          <a:prstGeom prst="roundRect">
            <a:avLst/>
          </a:prstGeom>
          <a:solidFill>
            <a:srgbClr val="DE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16552" y="4526280"/>
            <a:ext cx="530352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1100" b="1" i="0">
                <a:solidFill>
                  <a:srgbClr val="DE685B"/>
                </a:solidFill>
                <a:latin typeface="Aptos"/>
              </a:rPr>
              <a:t>-1.7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065776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192230"/>
                </a:solidFill>
                <a:latin typeface="Aptos"/>
              </a:rPr>
              <a:t>18-29 age band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30352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7D8B9E"/>
                </a:solidFill>
                <a:latin typeface="Aptos"/>
              </a:rPr>
              <a:t>Age Band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13124" y="5138928"/>
            <a:ext cx="1497787" cy="237744"/>
          </a:xfrm>
          <a:prstGeom prst="roundRect">
            <a:avLst/>
          </a:prstGeom>
          <a:solidFill>
            <a:srgbClr val="DE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16552" y="5120640"/>
            <a:ext cx="530352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1100" b="1" i="0">
                <a:solidFill>
                  <a:srgbClr val="DE685B"/>
                </a:solidFill>
                <a:latin typeface="Aptos"/>
              </a:rPr>
              <a:t>-1.6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833872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1" i="0">
                <a:solidFill>
                  <a:srgbClr val="DE685B"/>
                </a:solidFill>
                <a:latin typeface="Aptos"/>
              </a:rPr>
              <a:t>Lower than company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70448" y="5833872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1" i="0">
                <a:solidFill>
                  <a:srgbClr val="239192"/>
                </a:solidFill>
                <a:latin typeface="Aptos"/>
              </a:rPr>
              <a:t>Higher than company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66760" y="1783080"/>
            <a:ext cx="3218688" cy="4389120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05088" y="2139696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E2A949"/>
                </a:solidFill>
                <a:latin typeface="Aptos"/>
              </a:rPr>
              <a:t>THE RESPONSIBLE READ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2651760"/>
            <a:ext cx="2514600" cy="11887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These are observed differences in synthetic data, not explanations of their causes.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05088" y="4160520"/>
            <a:ext cx="2331720" cy="98755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50" b="0" i="0">
                <a:solidFill>
                  <a:srgbClr val="D7E0EF"/>
                </a:solidFill>
                <a:latin typeface="Aptos"/>
              </a:rPr>
              <a:t>Use the gaps to decide where to investigate next: validate sample context, listen qualitatively, and avoid individual-level inference.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088" y="54132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1" i="0">
                <a:solidFill>
                  <a:srgbClr val="239192"/>
                </a:solidFill>
                <a:latin typeface="Aptos"/>
              </a:rPr>
              <a:t>Reporting rule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8" y="5650992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Groups below n = 5 are suppressed.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" y="6547104"/>
            <a:ext cx="9875520" cy="1371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750" b="0" i="0">
                <a:solidFill>
                  <a:srgbClr val="7D8B9E"/>
                </a:solidFill>
                <a:latin typeface="Aptos"/>
              </a:rPr>
              <a:t>Synthetic dataset | Portfolio demonstration | Segment reporting threshold: n &gt;= 5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85216" y="6446520"/>
            <a:ext cx="11027664" cy="0"/>
          </a:xfrm>
          <a:prstGeom prst="line">
            <a:avLst/>
          </a:prstGeom>
          <a:ln w="762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239192"/>
                </a:solidFill>
                <a:latin typeface="Aptos"/>
              </a:rPr>
              <a:t>03 / ASSOCIATION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914400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400" b="1" i="0">
                <a:solidFill>
                  <a:srgbClr val="172554"/>
                </a:solidFill>
                <a:latin typeface="Aptos"/>
              </a:rPr>
              <a:t>Psychological safety is the strongest observed association.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97864"/>
            <a:ext cx="91440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50" b="0" i="0">
                <a:solidFill>
                  <a:srgbClr val="4C5B70"/>
                </a:solidFill>
                <a:latin typeface="Aptos"/>
              </a:rPr>
              <a:t>Pearson correlation with a separate overall inclusion outcome; this is a descriptive relationship, not an intervention estimate.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38404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800" b="1" i="0">
                <a:solidFill>
                  <a:srgbClr val="7D8B9E"/>
                </a:solidFill>
                <a:latin typeface="Aptos"/>
              </a:rPr>
              <a:t>04  /  EXECUTIVE BRIEF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7086600" cy="4389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7D8B9E"/>
                </a:solidFill>
                <a:latin typeface="Aptos"/>
              </a:rPr>
              <a:t>ASSOCIATION WITH INCLUSION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192230"/>
                </a:solidFill>
                <a:latin typeface="Aptos"/>
              </a:rPr>
              <a:t>Psychological Safety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47872" y="2560320"/>
            <a:ext cx="2468880" cy="201168"/>
          </a:xfrm>
          <a:prstGeom prst="roundRect">
            <a:avLst/>
          </a:prstGeom>
          <a:solidFill>
            <a:srgbClr val="DA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47872" y="2560320"/>
            <a:ext cx="2296058" cy="201168"/>
          </a:xfrm>
          <a:prstGeom prst="roundRect">
            <a:avLst/>
          </a:prstGeom>
          <a:solidFill>
            <a:srgbClr val="239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251460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1200" b="1" i="0">
                <a:solidFill>
                  <a:srgbClr val="172554"/>
                </a:solidFill>
                <a:latin typeface="Aptos"/>
              </a:rPr>
              <a:t>r = .371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18104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192230"/>
                </a:solidFill>
                <a:latin typeface="Aptos"/>
              </a:rPr>
              <a:t>Belonging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47872" y="3145536"/>
            <a:ext cx="2468880" cy="201168"/>
          </a:xfrm>
          <a:prstGeom prst="roundRect">
            <a:avLst/>
          </a:prstGeom>
          <a:solidFill>
            <a:srgbClr val="DA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47872" y="3145536"/>
            <a:ext cx="2197303" cy="201168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3099816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1200" b="1" i="0">
                <a:solidFill>
                  <a:srgbClr val="172554"/>
                </a:solidFill>
                <a:latin typeface="Aptos"/>
              </a:rPr>
              <a:t>r = .353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0332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192230"/>
                </a:solidFill>
                <a:latin typeface="Aptos"/>
              </a:rPr>
              <a:t>Inclusive Leadership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47872" y="3730752"/>
            <a:ext cx="2468880" cy="201168"/>
          </a:xfrm>
          <a:prstGeom prst="roundRect">
            <a:avLst/>
          </a:prstGeom>
          <a:solidFill>
            <a:srgbClr val="DA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47872" y="3730752"/>
            <a:ext cx="2178786" cy="201168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3685032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1200" b="1" i="0">
                <a:solidFill>
                  <a:srgbClr val="172554"/>
                </a:solidFill>
                <a:latin typeface="Aptos"/>
              </a:rPr>
              <a:t>r = .352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88536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192230"/>
                </a:solidFill>
                <a:latin typeface="Aptos"/>
              </a:rPr>
              <a:t>Employee Voice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47872" y="4315968"/>
            <a:ext cx="2468880" cy="201168"/>
          </a:xfrm>
          <a:prstGeom prst="roundRect">
            <a:avLst/>
          </a:prstGeom>
          <a:solidFill>
            <a:srgbClr val="DA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47872" y="4315968"/>
            <a:ext cx="1833143" cy="201168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4270248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1200" b="1" i="0">
                <a:solidFill>
                  <a:srgbClr val="172554"/>
                </a:solidFill>
                <a:latin typeface="Aptos"/>
              </a:rPr>
              <a:t>r = .285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73751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00" b="1" i="0">
                <a:solidFill>
                  <a:srgbClr val="192230"/>
                </a:solidFill>
                <a:latin typeface="Aptos"/>
              </a:rPr>
              <a:t>Fairness &amp; Opportunity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47872" y="4901183"/>
            <a:ext cx="2468880" cy="201168"/>
          </a:xfrm>
          <a:prstGeom prst="roundRect">
            <a:avLst/>
          </a:prstGeom>
          <a:solidFill>
            <a:srgbClr val="DA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547872" y="4901183"/>
            <a:ext cx="1678838" cy="201168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4855464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1200" b="1" i="0">
                <a:solidFill>
                  <a:srgbClr val="172554"/>
                </a:solidFill>
                <a:latin typeface="Aptos"/>
              </a:rPr>
              <a:t>r = .267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47872" y="5760720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850" b="0" i="0">
                <a:solidFill>
                  <a:srgbClr val="7D8B9E"/>
                </a:solidFill>
                <a:latin typeface="Aptos"/>
              </a:rPr>
              <a:t>Higher 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3792" y="5760720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850" b="0" i="0">
                <a:solidFill>
                  <a:srgbClr val="7D8B9E"/>
                </a:solidFill>
                <a:latin typeface="Aptos"/>
              </a:rPr>
              <a:t>Lower 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28431" y="1783080"/>
            <a:ext cx="3566160" cy="4389120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2139696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E2A949"/>
                </a:solidFill>
                <a:latin typeface="Aptos"/>
              </a:rPr>
              <a:t>WHAT THIS ENABLES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2633472"/>
            <a:ext cx="2514600" cy="7132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Prioritise
measurement.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657600"/>
            <a:ext cx="2468880" cy="11338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50" b="0" i="0">
                <a:solidFill>
                  <a:srgbClr val="D7E0EF"/>
                </a:solidFill>
                <a:latin typeface="Aptos"/>
              </a:rPr>
              <a:t>Psychological safety is a sensible first area for deeper follow-up because it combines the strongest observed association with a clear action and measurement pathway.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66760" y="5102352"/>
            <a:ext cx="2788920" cy="612648"/>
          </a:xfrm>
          <a:prstGeom prst="roundRect">
            <a:avLst/>
          </a:prstGeom>
          <a:solidFill>
            <a:srgbClr val="DE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58784" y="5239512"/>
            <a:ext cx="242316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ptos"/>
              </a:rPr>
              <a:t>Correlation describes
association, not causation.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" y="6547104"/>
            <a:ext cx="9875520" cy="1371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750" b="0" i="0">
                <a:solidFill>
                  <a:srgbClr val="7D8B9E"/>
                </a:solidFill>
                <a:latin typeface="Aptos"/>
              </a:rPr>
              <a:t>Synthetic dataset | Portfolio demonstration | Segment reporting threshold: n &gt;= 5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85216" y="6446520"/>
            <a:ext cx="11027664" cy="0"/>
          </a:xfrm>
          <a:prstGeom prst="line">
            <a:avLst/>
          </a:prstGeom>
          <a:ln w="762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239192"/>
                </a:solidFill>
                <a:latin typeface="Aptos"/>
              </a:rPr>
              <a:t>04 / ACTION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9144000" cy="56692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400" b="1" i="0">
                <a:solidFill>
                  <a:srgbClr val="172554"/>
                </a:solidFill>
                <a:latin typeface="Aptos"/>
              </a:rPr>
              <a:t>Move from insight to measurement, with a loop that can learn.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97864"/>
            <a:ext cx="91440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50" b="0" i="0">
                <a:solidFill>
                  <a:srgbClr val="4C5B70"/>
                </a:solidFill>
                <a:latin typeface="Aptos"/>
              </a:rPr>
              <a:t>The recommendation is not a one-off initiative; it is a repeatable operating rhythm.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38404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/>
            <a:r>
              <a:rPr sz="800" b="1" i="0">
                <a:solidFill>
                  <a:srgbClr val="7D8B9E"/>
                </a:solidFill>
                <a:latin typeface="Aptos"/>
              </a:rPr>
              <a:t>05  /  EXECUTIVE BRIEF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3749039" cy="4251960"/>
          </a:xfrm>
          <a:prstGeom prst="round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76272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E2A949"/>
                </a:solidFill>
                <a:latin typeface="Aptos"/>
              </a:rPr>
              <a:t>MEASUREMENT PRIORITY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3072384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889504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00" b="1" i="0">
                <a:solidFill>
                  <a:srgbClr val="172554"/>
                </a:solidFill>
                <a:latin typeface="Aptos"/>
              </a:rPr>
              <a:t>Psychological 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273552"/>
            <a:ext cx="27432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800" b="1" i="0">
                <a:solidFill>
                  <a:srgbClr val="239192"/>
                </a:solidFill>
                <a:latin typeface="Aptos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547872"/>
            <a:ext cx="3072384" cy="502920"/>
          </a:xfrm>
          <a:prstGeom prst="roundRect">
            <a:avLst/>
          </a:prstGeom>
          <a:solidFill>
            <a:srgbClr val="314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694176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Employee Voice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4078224"/>
            <a:ext cx="27432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800" b="1" i="0">
                <a:solidFill>
                  <a:srgbClr val="239192"/>
                </a:solidFill>
                <a:latin typeface="Aptos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352544"/>
            <a:ext cx="3072384" cy="502920"/>
          </a:xfrm>
          <a:prstGeom prst="roundRect">
            <a:avLst/>
          </a:prstGeom>
          <a:solidFill>
            <a:srgbClr val="314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4498848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Fairness &amp;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44068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000" b="0" i="0">
                <a:solidFill>
                  <a:srgbClr val="D7E0EF"/>
                </a:solidFill>
                <a:latin typeface="Aptos"/>
              </a:rPr>
              <a:t>Track primary scores, favourable percentage, segment gaps, and change over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1874519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900" b="1" i="0">
                <a:solidFill>
                  <a:srgbClr val="7D8B9E"/>
                </a:solidFill>
                <a:latin typeface="Aptos"/>
              </a:rPr>
              <a:t>THE MEASUREMENT LOOP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2487168"/>
            <a:ext cx="1664208" cy="60350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2391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96128" y="2688336"/>
            <a:ext cx="144475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100" b="1" i="0">
                <a:solidFill>
                  <a:srgbClr val="172554"/>
                </a:solidFill>
                <a:latin typeface="Aptos"/>
              </a:rPr>
              <a:t>Baseline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2487168"/>
            <a:ext cx="1664208" cy="60350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7848" y="2688336"/>
            <a:ext cx="144475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100" b="1" i="0">
                <a:solidFill>
                  <a:srgbClr val="172554"/>
                </a:solidFill>
                <a:latin typeface="Aptos"/>
              </a:rPr>
              <a:t>Intervention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12680" y="3364992"/>
            <a:ext cx="1664208" cy="60350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22407" y="3566160"/>
            <a:ext cx="144475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100" b="1" i="0">
                <a:solidFill>
                  <a:srgbClr val="172554"/>
                </a:solidFill>
                <a:latin typeface="Aptos"/>
              </a:rPr>
              <a:t>Follow-up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4645152"/>
            <a:ext cx="1874519" cy="60350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7848" y="48463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100" b="1" i="0">
                <a:solidFill>
                  <a:srgbClr val="172554"/>
                </a:solidFill>
                <a:latin typeface="Aptos"/>
              </a:rPr>
              <a:t>Segment analysis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4645152"/>
            <a:ext cx="1664208" cy="60350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96128" y="4846320"/>
            <a:ext cx="1444752" cy="1828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100" b="1" i="0">
                <a:solidFill>
                  <a:srgbClr val="172554"/>
                </a:solidFill>
                <a:latin typeface="Aptos"/>
              </a:rPr>
              <a:t>Adjust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50608" y="2788920"/>
            <a:ext cx="603504" cy="0"/>
          </a:xfrm>
          <a:prstGeom prst="line">
            <a:avLst/>
          </a:prstGeom>
          <a:ln w="25400">
            <a:solidFill>
              <a:srgbClr val="239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491472" y="2944368"/>
            <a:ext cx="457200" cy="374904"/>
          </a:xfrm>
          <a:prstGeom prst="line">
            <a:avLst/>
          </a:prstGeom>
          <a:ln w="25400">
            <a:solidFill>
              <a:srgbClr val="239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9464040" y="3977639"/>
            <a:ext cx="338328" cy="621793"/>
          </a:xfrm>
          <a:prstGeom prst="line">
            <a:avLst/>
          </a:prstGeom>
          <a:ln w="25400">
            <a:solidFill>
              <a:srgbClr val="239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7205472" y="4946904"/>
            <a:ext cx="521207" cy="0"/>
          </a:xfrm>
          <a:prstGeom prst="line">
            <a:avLst/>
          </a:prstGeom>
          <a:ln w="25400">
            <a:solidFill>
              <a:srgbClr val="2391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486400" y="3127248"/>
            <a:ext cx="502920" cy="1463040"/>
          </a:xfrm>
          <a:prstGeom prst="line">
            <a:avLst/>
          </a:prstGeom>
          <a:ln w="25400">
            <a:solidFill>
              <a:srgbClr val="DE68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983480" y="5605272"/>
            <a:ext cx="6309360" cy="457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0" y="5751576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000" b="1" i="0">
                <a:solidFill>
                  <a:srgbClr val="4C5B70"/>
                </a:solidFill>
                <a:latin typeface="Aptos"/>
              </a:rPr>
              <a:t>Decision rule: measure change, inspect segments, investigate context, then adjust.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" y="6547104"/>
            <a:ext cx="9875520" cy="1371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750" b="0" i="0">
                <a:solidFill>
                  <a:srgbClr val="7D8B9E"/>
                </a:solidFill>
                <a:latin typeface="Aptos"/>
              </a:rPr>
              <a:t>Synthetic dataset | Portfolio demonstration | Segment reporting threshold: n &gt;= 5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85216" y="6446520"/>
            <a:ext cx="11027664" cy="0"/>
          </a:xfrm>
          <a:prstGeom prst="line">
            <a:avLst/>
          </a:prstGeom>
          <a:ln w="762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983480" y="6126480"/>
            <a:ext cx="6309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latin typeface="Aptos"/>
              </a:rPr>
              <a:t>Event pulse: 8 events  |  63.3% attendance  |  0.70 knowledge gain  |  4.21/5 satisfaction</a:t>
            </a:r>
          </a:p>
          <a:p>
            <a:pPr algn="ctr"/>
            <a:r>
              <a:rPr sz="800" b="1">
                <a:latin typeface="Aptos"/>
              </a:rPr>
              <a:t>74.7% repeat intention  |  34.17 estimated cost per attendee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Inclusion &amp; Belonging Analytics</dc:title>
  <dc:subject>Five-slide executive presentation based on synthetic workforce survey analytics</dc:subject>
  <dc:creator>DE-I Analytics</dc:creator>
  <cp:keywords>inclusion, belonging, people analytics, measurement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