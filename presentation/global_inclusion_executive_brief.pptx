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5836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1" i="0">
                <a:solidFill>
                  <a:srgbClr val="DE685B"/>
                </a:solidFill>
                <a:latin typeface="Aptos"/>
              </a:rPr>
              <a:t>EXECUTIVE ANALYTICS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3000" b="1" i="0">
                <a:solidFill>
                  <a:srgbClr val="172554"/>
                </a:solidFill>
                <a:latin typeface="Aptos"/>
              </a:rPr>
              <a:t>Global Inclusion
&amp; Belonging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249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500" b="0" i="0">
                <a:solidFill>
                  <a:srgbClr val="4C5B70"/>
                </a:solidFill>
                <a:latin typeface="Aptos"/>
              </a:rPr>
              <a:t>A measurement system for seeing where inclusion is strong,
where signals are uneven, and how to learn over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0" y="685800"/>
            <a:ext cx="4069080" cy="5120640"/>
          </a:xfrm>
          <a:prstGeom prst="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1" i="0">
                <a:solidFill>
                  <a:srgbClr val="E2A949"/>
                </a:solidFill>
                <a:latin typeface="Aptos"/>
              </a:rPr>
              <a:t>THE BUSINESS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90688" y="1572768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Aptos"/>
              </a:rPr>
              <a:t>How can leaders turn
inclusion data into
measured action?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0" i="0">
                <a:solidFill>
                  <a:srgbClr val="D7E0EF"/>
                </a:solidFill>
                <a:latin typeface="Aptos"/>
              </a:rPr>
              <a:t>A five-dimension framework connects employee experience, segment signals, and a repeatable measurement loop.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4114800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rgbClr val="239192"/>
                </a:solidFill>
                <a:latin typeface="Aptos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526280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D7E0EF"/>
                </a:solidFill>
                <a:latin typeface="Aptos"/>
              </a:rPr>
              <a:t>dimensions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4114800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rgbClr val="239192"/>
                </a:solidFill>
                <a:latin typeface="Aptos"/>
              </a:rPr>
              <a:t>2,753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7112" y="4526280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D7E0EF"/>
                </a:solidFill>
                <a:latin typeface="Aptos"/>
              </a:rPr>
              <a:t>responses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4114800"/>
            <a:ext cx="9601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900" b="1" i="0">
                <a:solidFill>
                  <a:srgbClr val="239192"/>
                </a:solidFill>
                <a:latin typeface="Apto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6104" y="4526280"/>
            <a:ext cx="960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D7E0EF"/>
                </a:solidFill>
                <a:latin typeface="Aptos"/>
              </a:rPr>
              <a:t>countries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0807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0" i="0">
                <a:solidFill>
                  <a:srgbClr val="7D8B9E"/>
                </a:solidFill>
                <a:latin typeface="Aptos"/>
              </a:rPr>
              <a:t>Synthetic workforce survey | Voice 2026 | Fieldwork: 4-22 May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08076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00" b="1" i="0">
                <a:solidFill>
                  <a:srgbClr val="7D8B9E"/>
                </a:solidFill>
                <a:latin typeface="Aptos"/>
              </a:rPr>
              <a:t>01  /  EXECUTIVE 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239192"/>
                </a:solidFill>
                <a:latin typeface="Aptos"/>
              </a:rPr>
              <a:t>01 /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 i="0">
                <a:solidFill>
                  <a:srgbClr val="172554"/>
                </a:solidFill>
                <a:latin typeface="Aptos"/>
              </a:rPr>
              <a:t>Inclusion is strongest in belonging; fairness is the pressure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9786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4C5B70"/>
                </a:solidFill>
                <a:latin typeface="Aptos"/>
              </a:rPr>
              <a:t>The overall index is a composite view across five employee experience dimensions.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0" y="3840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00" b="1" i="0">
                <a:solidFill>
                  <a:srgbClr val="7D8B9E"/>
                </a:solidFill>
                <a:latin typeface="Aptos"/>
              </a:rPr>
              <a:t>02  /  EXECUTIVE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2880360" cy="4251960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40280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E2A949"/>
                </a:solidFill>
                <a:latin typeface="Aptos"/>
              </a:rPr>
              <a:t>OVERALL INCLUSION 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0604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Aptos"/>
              </a:rPr>
              <a:t>68.2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317296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>
                <a:solidFill>
                  <a:srgbClr val="D7E0EF"/>
                </a:solidFill>
                <a:latin typeface="Aptos"/>
              </a:rPr>
              <a:t>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160520"/>
            <a:ext cx="2148840" cy="9326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0" i="0">
                <a:solidFill>
                  <a:srgbClr val="D7E0EF"/>
                </a:solidFill>
                <a:latin typeface="Aptos"/>
              </a:rPr>
              <a:t>Mean of five dimensions, transformed from a 1-5 Likert scale to 0-100.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26694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00" b="1" i="0">
                <a:solidFill>
                  <a:srgbClr val="239192"/>
                </a:solidFill>
                <a:latin typeface="Aptos"/>
              </a:rPr>
              <a:t>LOWEST 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55046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ptos"/>
              </a:rPr>
              <a:t>Fairness &amp; Opportunity  60.6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208" y="1874519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7D8B9E"/>
                </a:solidFill>
                <a:latin typeface="Aptos"/>
              </a:rPr>
              <a:t>DIMENSION SCORE /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0208" y="2331720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Belonging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2359151"/>
            <a:ext cx="4160520" cy="173736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44768" y="2359151"/>
            <a:ext cx="3905688" cy="173736"/>
          </a:xfrm>
          <a:prstGeom prst="roundRect">
            <a:avLst/>
          </a:prstGeom>
          <a:solidFill>
            <a:srgbClr val="239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3888" y="2295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>
                <a:solidFill>
                  <a:srgbClr val="172554"/>
                </a:solidFill>
                <a:latin typeface="Aptos"/>
              </a:rPr>
              <a:t>75.1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587752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72.9% favourable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999232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Employee Voice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3026663"/>
            <a:ext cx="4160520" cy="173736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44768" y="3026663"/>
            <a:ext cx="3448030" cy="173736"/>
          </a:xfrm>
          <a:prstGeom prst="roundRect">
            <a:avLst/>
          </a:prstGeom>
          <a:solidFill>
            <a:srgbClr val="239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33888" y="29626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>
                <a:solidFill>
                  <a:srgbClr val="172554"/>
                </a:solidFill>
                <a:latin typeface="Aptos"/>
              </a:rPr>
              <a:t>66.3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0208" y="3255263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59.2% favourable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0208" y="3666744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Psychological Safety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3694176"/>
            <a:ext cx="4160520" cy="173736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3694176"/>
            <a:ext cx="3344017" cy="173736"/>
          </a:xfrm>
          <a:prstGeom prst="roundRect">
            <a:avLst/>
          </a:prstGeom>
          <a:solidFill>
            <a:srgbClr val="E2A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36301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>
                <a:solidFill>
                  <a:srgbClr val="172554"/>
                </a:solidFill>
                <a:latin typeface="Aptos"/>
              </a:rPr>
              <a:t>64.3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0208" y="3922776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56.0% favourable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334256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Fairness &amp; Opportunity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44768" y="4361688"/>
            <a:ext cx="4160520" cy="173736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44768" y="4361688"/>
            <a:ext cx="3151593" cy="173736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33888" y="42976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>
                <a:solidFill>
                  <a:srgbClr val="172554"/>
                </a:solidFill>
                <a:latin typeface="Aptos"/>
              </a:rPr>
              <a:t>60.6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0208" y="4590288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49.8% favourable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50208" y="500176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Inclusive Leadership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5029200"/>
            <a:ext cx="4160520" cy="173736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44768" y="5029200"/>
            <a:ext cx="3890086" cy="173736"/>
          </a:xfrm>
          <a:prstGeom prst="roundRect">
            <a:avLst/>
          </a:prstGeom>
          <a:solidFill>
            <a:srgbClr val="239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33888" y="49651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300" b="1" i="0">
                <a:solidFill>
                  <a:srgbClr val="172554"/>
                </a:solidFill>
                <a:latin typeface="Aptos"/>
              </a:rPr>
              <a:t>74.8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50208" y="5257800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71.7% favourable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50208" y="5650992"/>
            <a:ext cx="6949440" cy="43891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69663" y="5779008"/>
            <a:ext cx="649224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1" i="0">
                <a:solidFill>
                  <a:srgbClr val="4C5B70"/>
                </a:solidFill>
                <a:latin typeface="Aptos"/>
              </a:rPr>
              <a:t>Read the shape: high belonging does not remove the need to examine fairness and opportunity.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" y="6547104"/>
            <a:ext cx="9875520" cy="1371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50" b="0" i="0">
                <a:solidFill>
                  <a:srgbClr val="7D8B9E"/>
                </a:solidFill>
                <a:latin typeface="Aptos"/>
              </a:rPr>
              <a:t>Synthetic dataset | Portfolio demonstration | Segment reporting threshold: n &gt;= 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5216" y="6446520"/>
            <a:ext cx="11027664" cy="0"/>
          </a:xfrm>
          <a:prstGeom prst="line">
            <a:avLst/>
          </a:prstGeom>
          <a:ln w="7620">
            <a:solidFill>
              <a:srgbClr val="DAE1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239192"/>
                </a:solidFill>
                <a:latin typeface="Aptos"/>
              </a:rPr>
              <a:t>02 / SEGMENT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 i="0">
                <a:solidFill>
                  <a:srgbClr val="172554"/>
                </a:solidFill>
                <a:latin typeface="Aptos"/>
              </a:rPr>
              <a:t>The largest gaps cluster around tenure, department, and identity.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9786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4C5B70"/>
                </a:solidFill>
                <a:latin typeface="Aptos"/>
              </a:rPr>
              <a:t>Each bar shows the segment Inclusion Index difference versus the company-wide 68.2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0" y="3840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00" b="1" i="0">
                <a:solidFill>
                  <a:srgbClr val="7D8B9E"/>
                </a:solidFill>
                <a:latin typeface="Aptos"/>
              </a:rPr>
              <a:t>03  /  EXECUTIVE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7452360" cy="4389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7D8B9E"/>
                </a:solidFill>
                <a:latin typeface="Aptos"/>
              </a:rPr>
              <a:t>OBSERVED GAP VS COMPANY 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9472" y="2313432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800" b="1" i="0">
                <a:solidFill>
                  <a:srgbClr val="7D8B9E"/>
                </a:solidFill>
                <a:latin typeface="Aptos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10912" y="2468880"/>
            <a:ext cx="0" cy="3273552"/>
          </a:xfrm>
          <a:prstGeom prst="line">
            <a:avLst/>
          </a:prstGeom>
          <a:ln w="13970">
            <a:solidFill>
              <a:srgbClr val="DAE1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268833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6-10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Tenure Band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28569" y="2761488"/>
            <a:ext cx="2282342" cy="237744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74320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100" b="1" i="0">
                <a:solidFill>
                  <a:srgbClr val="DE685B"/>
                </a:solidFill>
                <a:latin typeface="Aptos"/>
              </a:rPr>
              <a:t>-3.2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Commercial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2044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Department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99892" y="3355848"/>
            <a:ext cx="2211019" cy="237744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333756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100" b="1" i="0">
                <a:solidFill>
                  <a:srgbClr val="DE685B"/>
                </a:solidFill>
                <a:latin typeface="Aptos"/>
              </a:rPr>
              <a:t>-3.1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87705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Non-binary / self-described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1480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Gender Group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9155" y="3950208"/>
            <a:ext cx="1711756" cy="237744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393192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100" b="1" i="0">
                <a:solidFill>
                  <a:srgbClr val="DE685B"/>
                </a:solidFill>
                <a:latin typeface="Aptos"/>
              </a:rPr>
              <a:t>-2.4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47141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0916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Department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9155" y="4544568"/>
            <a:ext cx="1711756" cy="237744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452628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100" b="1" i="0">
                <a:solidFill>
                  <a:srgbClr val="DE685B"/>
                </a:solidFill>
                <a:latin typeface="Aptos"/>
              </a:rPr>
              <a:t>-2.4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65776"/>
            <a:ext cx="3200400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3-5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03520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Tenure Band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13124" y="5138928"/>
            <a:ext cx="1497787" cy="237744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512064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100" b="1" i="0">
                <a:solidFill>
                  <a:srgbClr val="DE685B"/>
                </a:solidFill>
                <a:latin typeface="Aptos"/>
              </a:rPr>
              <a:t>-2.1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33872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1" i="0">
                <a:solidFill>
                  <a:srgbClr val="DE685B"/>
                </a:solidFill>
                <a:latin typeface="Aptos"/>
              </a:rPr>
              <a:t>Lower than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5833872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1" i="0">
                <a:solidFill>
                  <a:srgbClr val="239192"/>
                </a:solidFill>
                <a:latin typeface="Aptos"/>
              </a:rPr>
              <a:t>Higher than company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783080"/>
            <a:ext cx="3218688" cy="4389120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05088" y="213969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E2A949"/>
                </a:solidFill>
                <a:latin typeface="Aptos"/>
              </a:rPr>
              <a:t>THE RESPONSIBLE READ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651760"/>
            <a:ext cx="2514600" cy="11887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ptos"/>
              </a:rPr>
              <a:t>These are observed differences in synthetic data, not explanations of their causes.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05088" y="4160520"/>
            <a:ext cx="2331720" cy="9875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D7E0EF"/>
                </a:solidFill>
                <a:latin typeface="Aptos"/>
              </a:rPr>
              <a:t>Use the gaps to decide where to investigate next: validate sample context, listen qualitatively, and avoid individual-level inference.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54132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1" i="0">
                <a:solidFill>
                  <a:srgbClr val="239192"/>
                </a:solidFill>
                <a:latin typeface="Aptos"/>
              </a:rPr>
              <a:t>Reporting rule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5650992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ptos"/>
              </a:rPr>
              <a:t>Groups below n = 5 are suppressed.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" y="6547104"/>
            <a:ext cx="9875520" cy="1371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50" b="0" i="0">
                <a:solidFill>
                  <a:srgbClr val="7D8B9E"/>
                </a:solidFill>
                <a:latin typeface="Aptos"/>
              </a:rPr>
              <a:t>Synthetic dataset | Portfolio demonstration | Segment reporting threshold: n &gt;= 5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5216" y="6446520"/>
            <a:ext cx="11027664" cy="0"/>
          </a:xfrm>
          <a:prstGeom prst="line">
            <a:avLst/>
          </a:prstGeom>
          <a:ln w="7620">
            <a:solidFill>
              <a:srgbClr val="DAE1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239192"/>
                </a:solidFill>
                <a:latin typeface="Aptos"/>
              </a:rPr>
              <a:t>03 / DRIVER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 i="0">
                <a:solidFill>
                  <a:srgbClr val="172554"/>
                </a:solidFill>
                <a:latin typeface="Aptos"/>
              </a:rPr>
              <a:t>Psychological safety is the strongest observed association.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9786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4C5B70"/>
                </a:solidFill>
                <a:latin typeface="Aptos"/>
              </a:rPr>
              <a:t>Pearson correlation with a separate overall inclusion outcome; this is a descriptive relationship, not an intervention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0" y="3840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00" b="1" i="0">
                <a:solidFill>
                  <a:srgbClr val="7D8B9E"/>
                </a:solidFill>
                <a:latin typeface="Aptos"/>
              </a:rPr>
              <a:t>04  /  EXECUTIVE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7086600" cy="4389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7D8B9E"/>
                </a:solidFill>
                <a:latin typeface="Aptos"/>
              </a:rPr>
              <a:t>ASSOCIATION WITH INCLUSION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Psychological Safety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47872" y="2560320"/>
            <a:ext cx="2468880" cy="201168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47872" y="2560320"/>
            <a:ext cx="2296058" cy="201168"/>
          </a:xfrm>
          <a:prstGeom prst="roundRect">
            <a:avLst/>
          </a:prstGeom>
          <a:solidFill>
            <a:srgbClr val="239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072" y="25146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200" b="1" i="0">
                <a:solidFill>
                  <a:srgbClr val="172554"/>
                </a:solidFill>
                <a:latin typeface="Aptos"/>
              </a:rPr>
              <a:t>r = .372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18104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Belonging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3145536"/>
            <a:ext cx="2468880" cy="201168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47872" y="3145536"/>
            <a:ext cx="2197303" cy="201168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309981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200" b="1" i="0">
                <a:solidFill>
                  <a:srgbClr val="172554"/>
                </a:solidFill>
                <a:latin typeface="Aptos"/>
              </a:rPr>
              <a:t>r = .356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Inclusive Leadership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3730752"/>
            <a:ext cx="2468880" cy="201168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47872" y="3730752"/>
            <a:ext cx="2178786" cy="201168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368503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200" b="1" i="0">
                <a:solidFill>
                  <a:srgbClr val="172554"/>
                </a:solidFill>
                <a:latin typeface="Aptos"/>
              </a:rPr>
              <a:t>r = .353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88536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Employee Voice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4315968"/>
            <a:ext cx="2468880" cy="201168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47872" y="4315968"/>
            <a:ext cx="1833143" cy="201168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4270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200" b="1" i="0">
                <a:solidFill>
                  <a:srgbClr val="172554"/>
                </a:solidFill>
                <a:latin typeface="Aptos"/>
              </a:rPr>
              <a:t>r = .297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73751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100" b="1" i="0">
                <a:solidFill>
                  <a:srgbClr val="192230"/>
                </a:solidFill>
                <a:latin typeface="Aptos"/>
              </a:rPr>
              <a:t>Fairness &amp; Opportunity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901183"/>
            <a:ext cx="2468880" cy="201168"/>
          </a:xfrm>
          <a:prstGeom prst="roundRect">
            <a:avLst/>
          </a:prstGeom>
          <a:solidFill>
            <a:srgbClr val="DAE1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47872" y="4901183"/>
            <a:ext cx="1678838" cy="201168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1072" y="485546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1200" b="1" i="0">
                <a:solidFill>
                  <a:srgbClr val="172554"/>
                </a:solidFill>
                <a:latin typeface="Aptos"/>
              </a:rPr>
              <a:t>r = .272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576072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850" b="0" i="0">
                <a:solidFill>
                  <a:srgbClr val="7D8B9E"/>
                </a:solidFill>
                <a:latin typeface="Aptos"/>
              </a:rPr>
              <a:t>Higher 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2" y="5760720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50" b="0" i="0">
                <a:solidFill>
                  <a:srgbClr val="7D8B9E"/>
                </a:solidFill>
                <a:latin typeface="Aptos"/>
              </a:rPr>
              <a:t>Lower 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1783080"/>
            <a:ext cx="3566160" cy="4389120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66760" y="2139696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E2A949"/>
                </a:solidFill>
                <a:latin typeface="Aptos"/>
              </a:rPr>
              <a:t>WHAT THIS ENABLES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2633472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  <a:latin typeface="Aptos"/>
              </a:rPr>
              <a:t>Prioritise
measurement.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657600"/>
            <a:ext cx="2468880" cy="11338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D7E0EF"/>
                </a:solidFill>
                <a:latin typeface="Aptos"/>
              </a:rPr>
              <a:t>Psychological safety is a sensible first area for deeper follow-up because it combines the strongest observed association with a clear action and measurement pathway.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66760" y="5102352"/>
            <a:ext cx="2788920" cy="612648"/>
          </a:xfrm>
          <a:prstGeom prst="roundRect">
            <a:avLst/>
          </a:prstGeom>
          <a:solidFill>
            <a:srgbClr val="DE6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58784" y="5239512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ptos"/>
              </a:rPr>
              <a:t>Correlation describes
association, not causation.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6547104"/>
            <a:ext cx="9875520" cy="1371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50" b="0" i="0">
                <a:solidFill>
                  <a:srgbClr val="7D8B9E"/>
                </a:solidFill>
                <a:latin typeface="Aptos"/>
              </a:rPr>
              <a:t>Synthetic dataset | Portfolio demonstration | Segment reporting threshold: n &gt;= 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5216" y="6446520"/>
            <a:ext cx="11027664" cy="0"/>
          </a:xfrm>
          <a:prstGeom prst="line">
            <a:avLst/>
          </a:prstGeom>
          <a:ln w="7620">
            <a:solidFill>
              <a:srgbClr val="DAE1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239192"/>
                </a:solidFill>
                <a:latin typeface="Aptos"/>
              </a:rPr>
              <a:t>04 / ACTION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2400" b="1" i="0">
                <a:solidFill>
                  <a:srgbClr val="172554"/>
                </a:solidFill>
                <a:latin typeface="Aptos"/>
              </a:rPr>
              <a:t>Move from insight to measurement, with a loop that can learn.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197864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50" b="0" i="0">
                <a:solidFill>
                  <a:srgbClr val="4C5B70"/>
                </a:solidFill>
                <a:latin typeface="Aptos"/>
              </a:rPr>
              <a:t>The recommendation is not a one-off initiative; it is a repeatable operating rhythm.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49840" y="3840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/>
            <a:r>
              <a:rPr sz="800" b="1" i="0">
                <a:solidFill>
                  <a:srgbClr val="7D8B9E"/>
                </a:solidFill>
                <a:latin typeface="Aptos"/>
              </a:rPr>
              <a:t>05  /  EXECUTIVE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3749039" cy="4251960"/>
          </a:xfrm>
          <a:prstGeom prst="roundRect">
            <a:avLst/>
          </a:prstGeom>
          <a:solidFill>
            <a:srgbClr val="172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17627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E2A949"/>
                </a:solidFill>
                <a:latin typeface="Aptos"/>
              </a:rPr>
              <a:t>MEASUREMENT PRIORITY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3072384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89504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>
                <a:solidFill>
                  <a:srgbClr val="172554"/>
                </a:solidFill>
                <a:latin typeface="Aptos"/>
              </a:rPr>
              <a:t>Psychological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273552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800" b="1" i="0">
                <a:solidFill>
                  <a:srgbClr val="239192"/>
                </a:solidFill>
                <a:latin typeface="Aptos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547872"/>
            <a:ext cx="3072384" cy="502920"/>
          </a:xfrm>
          <a:prstGeom prst="roundRect">
            <a:avLst/>
          </a:prstGeom>
          <a:solidFill>
            <a:srgbClr val="314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694176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Employee Voice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078224"/>
            <a:ext cx="27432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800" b="1" i="0">
                <a:solidFill>
                  <a:srgbClr val="239192"/>
                </a:solidFill>
                <a:latin typeface="Aptos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52544"/>
            <a:ext cx="3072384" cy="502920"/>
          </a:xfrm>
          <a:prstGeom prst="roundRect">
            <a:avLst/>
          </a:prstGeom>
          <a:solidFill>
            <a:srgbClr val="314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4498848"/>
            <a:ext cx="2606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ptos"/>
              </a:rPr>
              <a:t>Fairness &amp;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440680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1000" b="0" i="0">
                <a:solidFill>
                  <a:srgbClr val="D7E0EF"/>
                </a:solidFill>
                <a:latin typeface="Aptos"/>
              </a:rPr>
              <a:t>Track primary scores, favourable percentage, segment gaps, and change over time.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1874519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900" b="1" i="0">
                <a:solidFill>
                  <a:srgbClr val="7D8B9E"/>
                </a:solidFill>
                <a:latin typeface="Aptos"/>
              </a:rPr>
              <a:t>THE MEASUREMENT LOOP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0" y="2487168"/>
            <a:ext cx="1664208" cy="6035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239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96128" y="2688336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 i="0">
                <a:solidFill>
                  <a:srgbClr val="172554"/>
                </a:solidFill>
                <a:latin typeface="Aptos"/>
              </a:rPr>
              <a:t>Baseline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487168"/>
            <a:ext cx="1664208" cy="6035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2688336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 i="0">
                <a:solidFill>
                  <a:srgbClr val="172554"/>
                </a:solidFill>
                <a:latin typeface="Aptos"/>
              </a:rPr>
              <a:t>Intervention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3364992"/>
            <a:ext cx="1664208" cy="6035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22407" y="3566160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 i="0">
                <a:solidFill>
                  <a:srgbClr val="172554"/>
                </a:solidFill>
                <a:latin typeface="Aptos"/>
              </a:rPr>
              <a:t>Follow-up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18120" y="4645152"/>
            <a:ext cx="1874519" cy="6035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4846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 i="0">
                <a:solidFill>
                  <a:srgbClr val="172554"/>
                </a:solidFill>
                <a:latin typeface="Aptos"/>
              </a:rPr>
              <a:t>Segment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4645152"/>
            <a:ext cx="1664208" cy="603504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96128" y="4846320"/>
            <a:ext cx="1444752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100" b="1" i="0">
                <a:solidFill>
                  <a:srgbClr val="172554"/>
                </a:solidFill>
                <a:latin typeface="Aptos"/>
              </a:rPr>
              <a:t>Adjust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50608" y="2788920"/>
            <a:ext cx="603504" cy="0"/>
          </a:xfrm>
          <a:prstGeom prst="line">
            <a:avLst/>
          </a:prstGeom>
          <a:ln w="25400">
            <a:solidFill>
              <a:srgbClr val="239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491472" y="2944368"/>
            <a:ext cx="457200" cy="374904"/>
          </a:xfrm>
          <a:prstGeom prst="line">
            <a:avLst/>
          </a:prstGeom>
          <a:ln w="25400">
            <a:solidFill>
              <a:srgbClr val="239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464040" y="3977639"/>
            <a:ext cx="338328" cy="621793"/>
          </a:xfrm>
          <a:prstGeom prst="line">
            <a:avLst/>
          </a:prstGeom>
          <a:ln w="25400">
            <a:solidFill>
              <a:srgbClr val="239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205472" y="4946904"/>
            <a:ext cx="521207" cy="0"/>
          </a:xfrm>
          <a:prstGeom prst="line">
            <a:avLst/>
          </a:prstGeom>
          <a:ln w="25400">
            <a:solidFill>
              <a:srgbClr val="239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486400" y="3127248"/>
            <a:ext cx="502920" cy="1463040"/>
          </a:xfrm>
          <a:prstGeom prst="line">
            <a:avLst/>
          </a:prstGeom>
          <a:ln w="25400">
            <a:solidFill>
              <a:srgbClr val="DE68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983480" y="5605272"/>
            <a:ext cx="6309360" cy="4572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5751576"/>
            <a:ext cx="585216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/>
            <a:r>
              <a:rPr sz="1000" b="1" i="0">
                <a:solidFill>
                  <a:srgbClr val="4C5B70"/>
                </a:solidFill>
                <a:latin typeface="Aptos"/>
              </a:rPr>
              <a:t>Decision rule: measure change, inspect segments, investigate context, then adjust.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6547104"/>
            <a:ext cx="9875520" cy="1371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/>
            <a:r>
              <a:rPr sz="750" b="0" i="0">
                <a:solidFill>
                  <a:srgbClr val="7D8B9E"/>
                </a:solidFill>
                <a:latin typeface="Aptos"/>
              </a:rPr>
              <a:t>Synthetic dataset | Portfolio demonstration | Segment reporting threshold: n &gt;= 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5216" y="6446520"/>
            <a:ext cx="11027664" cy="0"/>
          </a:xfrm>
          <a:prstGeom prst="line">
            <a:avLst/>
          </a:prstGeom>
          <a:ln w="7620">
            <a:solidFill>
              <a:srgbClr val="DAE1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Inclusion &amp; Belonging Analytics</dc:title>
  <dc:subject>Five-slide executive presentation based on synthetic workforce survey analytics</dc:subject>
  <dc:creator>DE-I Analytics</dc:creator>
  <cp:keywords>inclusion, belonging, people analytics, measurement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